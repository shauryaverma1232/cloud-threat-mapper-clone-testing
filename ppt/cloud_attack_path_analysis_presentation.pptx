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486400" y="-914400"/>
            <a:ext cx="2743200" cy="2743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858000" y="-457200"/>
            <a:ext cx="2286000" cy="22860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229600" y="0"/>
            <a:ext cx="1828800" cy="18288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182880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Segoe UI"/>
              </a:defRPr>
            </a:pPr>
            <a:r>
              <a:t>Cloud Threat Mapper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01752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8BDF8"/>
                </a:solidFill>
                <a:latin typeface="Segoe UI"/>
              </a:defRPr>
            </a:pPr>
            <a:r>
              <a:t>Graph-Based Attack Path Analysis for</a:t>
            </a:r>
          </a:p>
          <a:p>
            <a:pPr>
              <a:defRPr sz="2000">
                <a:solidFill>
                  <a:srgbClr val="C7D7E8"/>
                </a:solidFill>
                <a:latin typeface="Segoe UI"/>
              </a:defRPr>
            </a:pPr>
            <a:r>
              <a:t>Cloud Infrastructure 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1148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Automated detection of privilege escalation paths using graph algorithms and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Research Project Presentation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1188720"/>
            <a:ext cx="7863840" cy="13716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87171"/>
                </a:solidFill>
              </a:defRPr>
            </a:pPr>
            <a:r>
              <a:t>Cloud Infrastructure Complexity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Modern cloud environments have hundreds of interconnected resources with complex dependency chains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1188720"/>
            <a:ext cx="137160" cy="1371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0080" y="2788920"/>
            <a:ext cx="7863840" cy="13716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B923C"/>
                </a:solidFill>
              </a:defRPr>
            </a:pPr>
            <a:r>
              <a:t>Privilege Escalation Detection Gap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Traditional scanners miss multi-hop attack paths spanning IAM, compute, and storage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788920"/>
            <a:ext cx="137160" cy="13716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40080" y="4389120"/>
            <a:ext cx="7863840" cy="13716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Rule-Based Scanner Limitations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Checklist-based tools produce long reports without context or prioritization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389120"/>
            <a:ext cx="137160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Research Question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1188720"/>
            <a:ext cx="7863840" cy="164592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How can graph-based infrastructure modeling improve the detection of privilege escalation paths in cloud environments?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200400"/>
            <a:ext cx="2560320" cy="1645920"/>
          </a:xfrm>
          <a:prstGeom prst="roundRect">
            <a:avLst/>
          </a:prstGeom>
          <a:solidFill>
            <a:srgbClr val="16274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Cloud Resource Relationships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Understanding how IAM, compute, and storage interconnect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338328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D192D"/>
                </a:solidFill>
              </a:defRPr>
            </a:pPr>
            <a: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3200400"/>
            <a:ext cx="2560320" cy="1645920"/>
          </a:xfrm>
          <a:prstGeom prst="roundRect">
            <a:avLst/>
          </a:prstGeom>
          <a:solidFill>
            <a:srgbClr val="16274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Attack Surface Expansion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Mapping multi-hop privilege escalation chains</a:t>
            </a:r>
          </a:p>
        </p:txBody>
      </p:sp>
      <p:sp>
        <p:nvSpPr>
          <p:cNvPr id="29" name="Oval 28"/>
          <p:cNvSpPr/>
          <p:nvPr/>
        </p:nvSpPr>
        <p:spPr>
          <a:xfrm>
            <a:off x="3520440" y="338328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D192D"/>
                </a:solidFill>
              </a:defRPr>
            </a:pPr>
            <a:r>
              <a:t>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3200400"/>
            <a:ext cx="2560320" cy="1645920"/>
          </a:xfrm>
          <a:prstGeom prst="roundRect">
            <a:avLst/>
          </a:prstGeom>
          <a:solidFill>
            <a:srgbClr val="16274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Automated Reasoning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AI-assisted analysis for risk prioritization</a:t>
            </a:r>
          </a:p>
        </p:txBody>
      </p:sp>
      <p:sp>
        <p:nvSpPr>
          <p:cNvPr id="31" name="Oval 30"/>
          <p:cNvSpPr/>
          <p:nvPr/>
        </p:nvSpPr>
        <p:spPr>
          <a:xfrm>
            <a:off x="6217920" y="338328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D192D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Proposed Approach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2514600"/>
            <a:ext cx="13716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" y="1371600"/>
            <a:ext cx="1874519" cy="22860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 algn="ctr">
              <a:spcBef>
                <a:spcPts val="4500"/>
              </a:spcBef>
              <a:defRPr sz="1200" b="1">
                <a:solidFill>
                  <a:srgbClr val="FFFFFF"/>
                </a:solidFill>
              </a:defRPr>
            </a:pPr>
            <a:r>
              <a:t>Infrastructure</a:t>
            </a:r>
            <a:br/>
            <a:r>
              <a:t>Data Collection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AWS APIs via boto3</a:t>
            </a:r>
          </a:p>
        </p:txBody>
      </p:sp>
      <p:sp>
        <p:nvSpPr>
          <p:cNvPr id="27" name="Oval 26"/>
          <p:cNvSpPr/>
          <p:nvPr/>
        </p:nvSpPr>
        <p:spPr>
          <a:xfrm>
            <a:off x="1303020" y="1508760"/>
            <a:ext cx="548640" cy="5486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D192D"/>
                </a:solidFill>
              </a:defRPr>
            </a:pPr>
            <a: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514600"/>
            <a:ext cx="13716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2651760" y="1371600"/>
            <a:ext cx="1874519" cy="22860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 algn="ctr">
              <a:spcBef>
                <a:spcPts val="4500"/>
              </a:spcBef>
              <a:defRPr sz="1200" b="1">
                <a:solidFill>
                  <a:srgbClr val="FFFFFF"/>
                </a:solidFill>
              </a:defRPr>
            </a:pPr>
            <a:r>
              <a:t>Graph-Based</a:t>
            </a:r>
            <a:br/>
            <a:r>
              <a:t>Modeling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Resources as nodes</a:t>
            </a:r>
          </a:p>
        </p:txBody>
      </p:sp>
      <p:sp>
        <p:nvSpPr>
          <p:cNvPr id="30" name="Oval 29"/>
          <p:cNvSpPr/>
          <p:nvPr/>
        </p:nvSpPr>
        <p:spPr>
          <a:xfrm>
            <a:off x="3314700" y="150876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D192D"/>
                </a:solidFill>
              </a:defRPr>
            </a:pPr>
            <a: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514600"/>
            <a:ext cx="13716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663440" y="1371600"/>
            <a:ext cx="1874519" cy="22860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 algn="ctr">
              <a:spcBef>
                <a:spcPts val="4500"/>
              </a:spcBef>
              <a:defRPr sz="1200" b="1">
                <a:solidFill>
                  <a:srgbClr val="FFFFFF"/>
                </a:solidFill>
              </a:defRPr>
            </a:pPr>
            <a:r>
              <a:t>Attack Path</a:t>
            </a:r>
            <a:br/>
            <a:r>
              <a:t>Discovery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DFS/BFS traversal</a:t>
            </a:r>
          </a:p>
        </p:txBody>
      </p:sp>
      <p:sp>
        <p:nvSpPr>
          <p:cNvPr id="33" name="Oval 32"/>
          <p:cNvSpPr/>
          <p:nvPr/>
        </p:nvSpPr>
        <p:spPr>
          <a:xfrm>
            <a:off x="5326380" y="1508760"/>
            <a:ext cx="548640" cy="54864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D192D"/>
                </a:solidFill>
              </a:defRPr>
            </a:pPr>
            <a:r>
              <a:t>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1371600"/>
            <a:ext cx="1874519" cy="22860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 algn="ctr">
              <a:spcBef>
                <a:spcPts val="4500"/>
              </a:spcBef>
              <a:defRPr sz="1200" b="1">
                <a:solidFill>
                  <a:srgbClr val="FFFFFF"/>
                </a:solidFill>
              </a:defRPr>
            </a:pPr>
            <a:r>
              <a:t>AI-Assisted</a:t>
            </a:r>
            <a:br/>
            <a:r>
              <a:t>Reasoning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LLM risk analysis</a:t>
            </a:r>
          </a:p>
        </p:txBody>
      </p:sp>
      <p:sp>
        <p:nvSpPr>
          <p:cNvPr id="35" name="Oval 34"/>
          <p:cNvSpPr/>
          <p:nvPr/>
        </p:nvSpPr>
        <p:spPr>
          <a:xfrm>
            <a:off x="7338060" y="1508760"/>
            <a:ext cx="548640" cy="5486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D192D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200400" y="812439"/>
            <a:ext cx="2743200" cy="813816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 dirty="0"/>
              <a:t>Frontend UI</a:t>
            </a:r>
          </a:p>
          <a:p>
            <a:br>
              <a:rPr dirty="0"/>
            </a:br>
            <a:r>
              <a:rPr dirty="0"/>
              <a:t>React + Cytoscape.js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1746504"/>
            <a:ext cx="2743200" cy="813816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2C55E"/>
                </a:solidFill>
              </a:defRPr>
            </a:pPr>
            <a:r>
              <a:rPr dirty="0"/>
              <a:t>API Layer</a:t>
            </a:r>
          </a:p>
          <a:p>
            <a:br>
              <a:rPr dirty="0"/>
            </a:br>
            <a:r>
              <a:rPr dirty="0" err="1"/>
              <a:t>FastAPI</a:t>
            </a:r>
            <a:r>
              <a:rPr dirty="0"/>
              <a:t> REST Server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2680569"/>
            <a:ext cx="2743200" cy="702711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B923C"/>
                </a:solidFill>
              </a:defRPr>
            </a:pPr>
            <a:r>
              <a:rPr dirty="0"/>
              <a:t>Task Queue</a:t>
            </a:r>
          </a:p>
          <a:p>
            <a:br>
              <a:rPr dirty="0"/>
            </a:br>
            <a:r>
              <a:rPr dirty="0"/>
              <a:t>Celery + Redis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749039"/>
            <a:ext cx="2468880" cy="100584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 dirty="0"/>
              <a:t>PostgreSQL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Scan metadata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&amp; findings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37560" y="3749039"/>
            <a:ext cx="2468880" cy="100584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8B5CF6"/>
                </a:solidFill>
              </a:defRPr>
            </a:pPr>
            <a:r>
              <a:rPr dirty="0"/>
              <a:t>Neo4j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Graph storage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DFS/BFS traversal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3749039"/>
            <a:ext cx="2468880" cy="100584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2C55E"/>
                </a:solidFill>
              </a:defRPr>
            </a:pPr>
            <a:r>
              <a:rPr dirty="0"/>
              <a:t>AI Engine</a:t>
            </a:r>
          </a:p>
          <a:p>
            <a:br>
              <a:rPr dirty="0"/>
            </a:br>
            <a:r>
              <a:rPr sz="1400" dirty="0"/>
              <a:t>LLM</a:t>
            </a:r>
            <a:r>
              <a:rPr lang="en-IN" sz="1400" dirty="0"/>
              <a:t> Based Security</a:t>
            </a:r>
            <a:r>
              <a:rPr sz="1400" dirty="0"/>
              <a:t> analysis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029200"/>
            <a:ext cx="7863840" cy="731520"/>
          </a:xfrm>
          <a:prstGeom prst="roundRect">
            <a:avLst/>
          </a:prstGeom>
          <a:solidFill>
            <a:srgbClr val="16274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rPr dirty="0"/>
              <a:t>External Services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AWS APIs (boto3): EC2 | IAM | S3 | VPC | Lambda | RDS    |    AI Provider: </a:t>
            </a:r>
            <a:r>
              <a:rPr sz="1400" dirty="0" err="1">
                <a:solidFill>
                  <a:schemeClr val="bg1"/>
                </a:solidFill>
              </a:rPr>
              <a:t>Groq</a:t>
            </a:r>
            <a:r>
              <a:rPr sz="1400" dirty="0">
                <a:solidFill>
                  <a:schemeClr val="bg1"/>
                </a:solidFill>
              </a:rPr>
              <a:t>/Gemini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Graph Modeling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1188720"/>
            <a:ext cx="3749039" cy="22860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Nodes (Cloud Resources)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• IAM: Users, Roles, Policies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• Compute: EC2, Lambda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• Network: VPC, Subnet, Security Group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• Storage: S3, RDS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1188720"/>
            <a:ext cx="3749039" cy="22860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8B5CF6"/>
                </a:solidFill>
              </a:defRPr>
            </a:pPr>
            <a:r>
              <a:t>Edges (Relationships)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• attached_to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• belongs_to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• has_permission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t>• can_access</a:t>
            </a:r>
          </a:p>
        </p:txBody>
      </p:sp>
      <p:sp>
        <p:nvSpPr>
          <p:cNvPr id="27" name="Oval 26"/>
          <p:cNvSpPr/>
          <p:nvPr/>
        </p:nvSpPr>
        <p:spPr>
          <a:xfrm>
            <a:off x="1371600" y="3840480"/>
            <a:ext cx="822960" cy="8229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D192D"/>
                </a:solidFill>
              </a:defRPr>
            </a:pPr>
            <a:r>
              <a:t>IAM User</a:t>
            </a:r>
          </a:p>
        </p:txBody>
      </p:sp>
      <p:sp>
        <p:nvSpPr>
          <p:cNvPr id="28" name="Oval 27"/>
          <p:cNvSpPr/>
          <p:nvPr/>
        </p:nvSpPr>
        <p:spPr>
          <a:xfrm>
            <a:off x="3200400" y="3840480"/>
            <a:ext cx="822960" cy="8229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D192D"/>
                </a:solidFill>
              </a:defRPr>
            </a:pPr>
            <a:r>
              <a:t>IAM Role</a:t>
            </a:r>
          </a:p>
        </p:txBody>
      </p:sp>
      <p:sp>
        <p:nvSpPr>
          <p:cNvPr id="29" name="Oval 28"/>
          <p:cNvSpPr/>
          <p:nvPr/>
        </p:nvSpPr>
        <p:spPr>
          <a:xfrm>
            <a:off x="5029200" y="3840480"/>
            <a:ext cx="822960" cy="822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D192D"/>
                </a:solidFill>
              </a:defRPr>
            </a:pPr>
            <a:r>
              <a:t>EC2</a:t>
            </a:r>
          </a:p>
        </p:txBody>
      </p:sp>
      <p:sp>
        <p:nvSpPr>
          <p:cNvPr id="30" name="Oval 29"/>
          <p:cNvSpPr/>
          <p:nvPr/>
        </p:nvSpPr>
        <p:spPr>
          <a:xfrm>
            <a:off x="6858000" y="384048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D192D"/>
                </a:solidFill>
              </a:defRPr>
            </a:pPr>
            <a:r>
              <a:t>S3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40280" y="4206240"/>
            <a:ext cx="91440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069080" y="4206240"/>
            <a:ext cx="91440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897880" y="4206240"/>
            <a:ext cx="91440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Attack Path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1188720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Example Attack 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1645920"/>
            <a:ext cx="1463040" cy="82296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192D"/>
                </a:solidFill>
              </a:defRPr>
            </a:pPr>
            <a:r>
              <a:rPr dirty="0"/>
              <a:t>Internet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1234440" y="2514600"/>
            <a:ext cx="274320" cy="22860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233397" y="1646412"/>
            <a:ext cx="1463040" cy="82296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D192D"/>
                </a:solidFill>
              </a:defRPr>
            </a:pPr>
            <a:r>
              <a:rPr dirty="0"/>
              <a:t>(0.0.0.0/0)</a:t>
            </a:r>
            <a:endParaRPr lang="en-US" dirty="0"/>
          </a:p>
          <a:p>
            <a:pPr algn="ctr">
              <a:defRPr sz="900" b="1">
                <a:solidFill>
                  <a:srgbClr val="0D192D"/>
                </a:solidFill>
              </a:defRPr>
            </a:pPr>
            <a:endParaRPr dirty="0"/>
          </a:p>
          <a:p>
            <a:r>
              <a:rPr lang="en-US" sz="1000" b="1" dirty="0">
                <a:solidFill>
                  <a:schemeClr val="tx1"/>
                </a:solidFill>
              </a:rPr>
              <a:t>Security Group</a:t>
            </a:r>
            <a:endParaRPr sz="1000" b="1" dirty="0">
              <a:solidFill>
                <a:schemeClr val="tx1"/>
              </a:solidFill>
            </a:endParaRPr>
          </a:p>
          <a:p>
            <a:endParaRPr dirty="0"/>
          </a:p>
        </p:txBody>
      </p:sp>
      <p:sp>
        <p:nvSpPr>
          <p:cNvPr id="29" name="Down Arrow 28"/>
          <p:cNvSpPr/>
          <p:nvPr/>
        </p:nvSpPr>
        <p:spPr>
          <a:xfrm>
            <a:off x="2834640" y="2514600"/>
            <a:ext cx="274320" cy="22860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840480" y="1645920"/>
            <a:ext cx="1463040" cy="82296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192D"/>
                </a:solidFill>
              </a:defRPr>
            </a:pPr>
            <a:r>
              <a:t>EC2 Instance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4434840" y="2514600"/>
            <a:ext cx="274320" cy="22860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440680" y="1645920"/>
            <a:ext cx="1463040" cy="8229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192D"/>
                </a:solidFill>
              </a:defRPr>
            </a:pPr>
            <a:r>
              <a:t>IAM Role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6035040" y="2514600"/>
            <a:ext cx="274320" cy="22860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040880" y="1645920"/>
            <a:ext cx="1463040" cy="82296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192D"/>
                </a:solidFill>
              </a:defRPr>
            </a:pPr>
            <a:r>
              <a:t>Admin Policy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474720"/>
            <a:ext cx="3840480" cy="164592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2C55E"/>
                </a:solidFill>
              </a:defRPr>
            </a:pPr>
            <a:r>
              <a:rPr dirty="0"/>
              <a:t>Rule-Based Detection</a:t>
            </a:r>
          </a:p>
          <a:p>
            <a:br>
              <a:rPr dirty="0"/>
            </a:br>
            <a:r>
              <a:rPr sz="1100" dirty="0">
                <a:solidFill>
                  <a:schemeClr val="bg1"/>
                </a:solidFill>
              </a:rPr>
              <a:t>• DFS/BFS graph traversal</a:t>
            </a:r>
          </a:p>
          <a:p>
            <a:pPr>
              <a:spcBef>
                <a:spcPts val="600"/>
              </a:spcBef>
              <a:defRPr sz="1100">
                <a:solidFill>
                  <a:srgbClr val="C7D7E8"/>
                </a:solidFill>
              </a:defRPr>
            </a:pPr>
            <a:r>
              <a:rPr sz="1100" dirty="0">
                <a:solidFill>
                  <a:schemeClr val="bg1"/>
                </a:solidFill>
              </a:rPr>
              <a:t>• Identifies attack paths automatically</a:t>
            </a:r>
          </a:p>
          <a:p>
            <a:pPr>
              <a:spcBef>
                <a:spcPts val="600"/>
              </a:spcBef>
              <a:defRPr sz="1100">
                <a:solidFill>
                  <a:srgbClr val="C7D7E8"/>
                </a:solidFill>
              </a:defRPr>
            </a:pPr>
            <a:r>
              <a:rPr sz="1100" dirty="0">
                <a:solidFill>
                  <a:schemeClr val="bg1"/>
                </a:solidFill>
              </a:rPr>
              <a:t>• Scores paths by severity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63440" y="3474720"/>
            <a:ext cx="3840480" cy="164592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rPr dirty="0"/>
              <a:t>AI Reasoning</a:t>
            </a:r>
          </a:p>
          <a:p>
            <a:br>
              <a:rPr dirty="0"/>
            </a:br>
            <a:r>
              <a:rPr sz="1100" dirty="0">
                <a:solidFill>
                  <a:schemeClr val="bg1"/>
                </a:solidFill>
              </a:rPr>
              <a:t>• Explains detected paths in natural language</a:t>
            </a:r>
          </a:p>
          <a:p>
            <a:pPr>
              <a:spcBef>
                <a:spcPts val="600"/>
              </a:spcBef>
              <a:defRPr sz="1100">
                <a:solidFill>
                  <a:srgbClr val="C7D7E8"/>
                </a:solidFill>
              </a:defRPr>
            </a:pPr>
            <a:r>
              <a:rPr dirty="0">
                <a:solidFill>
                  <a:schemeClr val="bg1"/>
                </a:solidFill>
              </a:rPr>
              <a:t>• Prioritizes risks with context</a:t>
            </a:r>
          </a:p>
          <a:p>
            <a:pPr>
              <a:spcBef>
                <a:spcPts val="600"/>
              </a:spcBef>
              <a:defRPr sz="1100">
                <a:solidFill>
                  <a:srgbClr val="C7D7E8"/>
                </a:solidFill>
              </a:defRPr>
            </a:pPr>
            <a:r>
              <a:rPr dirty="0">
                <a:solidFill>
                  <a:schemeClr val="bg1"/>
                </a:solidFill>
              </a:rPr>
              <a:t>• Generates remediation steps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AI-Assisted Security Analysis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7D7E8"/>
                </a:solidFill>
                <a:latin typeface="Segoe UI"/>
              </a:defRPr>
            </a:pPr>
            <a:r>
              <a:t>Rule-based detection identifies paths. AI explains and prioritizes them.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83" y="1920240"/>
            <a:ext cx="3840480" cy="22860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rPr dirty="0"/>
              <a:t>Rule-Based Detection</a:t>
            </a:r>
          </a:p>
          <a:p>
            <a:br>
              <a:rPr dirty="0"/>
            </a:br>
            <a:r>
              <a:rPr sz="1200" dirty="0">
                <a:solidFill>
                  <a:schemeClr val="bg1"/>
                </a:solidFill>
              </a:rPr>
              <a:t>• Graph traversal (DFS/BFS)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Identifies attack paths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Computes risk scores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Deterministic &amp; auditable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1920240"/>
            <a:ext cx="3840480" cy="228600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8B5CF6"/>
                </a:solidFill>
              </a:defRPr>
            </a:pPr>
            <a:r>
              <a:rPr dirty="0"/>
              <a:t>AI Reasoning Layer</a:t>
            </a:r>
          </a:p>
          <a:p>
            <a:br>
              <a:rPr dirty="0"/>
            </a:br>
            <a:r>
              <a:rPr sz="1200" dirty="0">
                <a:solidFill>
                  <a:schemeClr val="bg1"/>
                </a:solidFill>
              </a:rPr>
              <a:t>• Explains paths in natural language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Adds security context (MITRE ATT&amp;CK)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Prioritizes by business impact</a:t>
            </a:r>
          </a:p>
          <a:p>
            <a:pPr>
              <a:spcBef>
                <a:spcPts val="8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Generates remediation steps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526280" y="2926080"/>
            <a:ext cx="274320" cy="36576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40080" y="4480560"/>
            <a:ext cx="7863840" cy="914400"/>
          </a:xfrm>
          <a:prstGeom prst="roundRect">
            <a:avLst/>
          </a:prstGeom>
          <a:solidFill>
            <a:srgbClr val="16274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Pipeline: Graph → Detection → AI → Report</a:t>
            </a:r>
          </a:p>
          <a:p>
            <a:br/>
            <a:r>
              <a:t>Detection finds the issues. AI makes them understandable.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Evaluation Strategy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1188720"/>
            <a:ext cx="3749039" cy="256032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rPr dirty="0"/>
              <a:t>Testing Environments</a:t>
            </a:r>
          </a:p>
          <a:p>
            <a:br>
              <a:rPr dirty="0"/>
            </a:br>
            <a:r>
              <a:rPr sz="1200" dirty="0">
                <a:solidFill>
                  <a:schemeClr val="bg1"/>
                </a:solidFill>
              </a:rPr>
              <a:t>• </a:t>
            </a:r>
            <a:r>
              <a:rPr sz="1200" dirty="0" err="1">
                <a:solidFill>
                  <a:schemeClr val="bg1"/>
                </a:solidFill>
              </a:rPr>
              <a:t>CloudGoat</a:t>
            </a:r>
            <a:r>
              <a:rPr sz="1200" dirty="0">
                <a:solidFill>
                  <a:schemeClr val="bg1"/>
                </a:solidFill>
              </a:rPr>
              <a:t> (vulnerable AWS)</a:t>
            </a:r>
          </a:p>
          <a:p>
            <a:pPr>
              <a:spcBef>
                <a:spcPts val="10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Custom misconfigured labs</a:t>
            </a:r>
          </a:p>
          <a:p>
            <a:pPr>
              <a:spcBef>
                <a:spcPts val="10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OWASP Cloud Security scenarios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1" y="1188720"/>
            <a:ext cx="3749039" cy="256032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rPr dirty="0"/>
              <a:t>Evaluation Metrics</a:t>
            </a:r>
          </a:p>
          <a:p>
            <a:br>
              <a:rPr dirty="0"/>
            </a:br>
            <a:r>
              <a:rPr sz="1200" dirty="0">
                <a:solidFill>
                  <a:schemeClr val="bg1"/>
                </a:solidFill>
              </a:rPr>
              <a:t>• Detection Accuracy</a:t>
            </a:r>
          </a:p>
          <a:p>
            <a:pPr>
              <a:spcBef>
                <a:spcPts val="10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False Positive Rate</a:t>
            </a:r>
          </a:p>
          <a:p>
            <a:pPr>
              <a:spcBef>
                <a:spcPts val="10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Analysis Time</a:t>
            </a:r>
          </a:p>
          <a:p>
            <a:pPr>
              <a:spcBef>
                <a:spcPts val="1000"/>
              </a:spcBef>
              <a:defRPr sz="1200">
                <a:solidFill>
                  <a:srgbClr val="C7D7E8"/>
                </a:solidFill>
              </a:defRPr>
            </a:pPr>
            <a:r>
              <a:rPr sz="1200" dirty="0">
                <a:solidFill>
                  <a:schemeClr val="bg1"/>
                </a:solidFill>
              </a:rPr>
              <a:t>• AI Explanation Quality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7863840" cy="1188720"/>
          </a:xfrm>
          <a:prstGeom prst="roundRect">
            <a:avLst/>
          </a:prstGeom>
          <a:solidFill>
            <a:srgbClr val="162744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Comparison Approach</a:t>
            </a:r>
          </a:p>
          <a:p>
            <a:br/>
            <a:r>
              <a:t>Rule-based Detection  vs  AI-Assisted Analysis    |    Traditional Scanning  vs  Graph-based Approach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79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4964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75320" y="274320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79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4964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75320" y="6400800"/>
            <a:ext cx="109728" cy="1097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28800" y="9144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13716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71600" y="4572000"/>
            <a:ext cx="137160" cy="1371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0" y="5029200"/>
            <a:ext cx="137160" cy="13716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Contributions and Impact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868680"/>
            <a:ext cx="13716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1188720"/>
            <a:ext cx="3749039" cy="155448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Graph-Based Framework</a:t>
            </a:r>
          </a:p>
          <a:p>
            <a:br/>
            <a:r>
              <a:t>Graph-based modeling of cloud infrastructure for attack-path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1188720"/>
            <a:ext cx="3749039" cy="155448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AI-Assisted Reasoning</a:t>
            </a:r>
          </a:p>
          <a:p>
            <a:br/>
            <a:r>
              <a:t>LLM-based explanation and prioritization of detected attack paths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017520"/>
            <a:ext cx="3749039" cy="155448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B923C"/>
                </a:solidFill>
              </a:defRPr>
            </a:pPr>
            <a:r>
              <a:t>Interactive Visualization</a:t>
            </a:r>
          </a:p>
          <a:p>
            <a:br/>
            <a:r>
              <a:t>Real-time graph exploration dashboard for security analysts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3017520"/>
            <a:ext cx="3749039" cy="155448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2C55E"/>
                </a:solidFill>
              </a:defRPr>
            </a:pPr>
            <a:r>
              <a:t>Empirical Evaluation</a:t>
            </a:r>
          </a:p>
          <a:p>
            <a:br/>
            <a:r>
              <a:t>Systematic testing on CloudGoat and vulnerable cloud labs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46320"/>
            <a:ext cx="7863840" cy="1097280"/>
          </a:xfrm>
          <a:prstGeom prst="roundRect">
            <a:avLst/>
          </a:prstGeom>
          <a:solidFill>
            <a:srgbClr val="16274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dirty="0"/>
              <a:t>Future Work</a:t>
            </a:r>
          </a:p>
          <a:p>
            <a:pPr>
              <a:spcBef>
                <a:spcPts val="800"/>
              </a:spcBef>
              <a:defRPr sz="1100">
                <a:solidFill>
                  <a:srgbClr val="C7D7E8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  Multi-cloud support (Azure, GCP)  •  Advanced attack simulation  •  Security automation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548</Words>
  <Application>Microsoft Office PowerPoint</Application>
  <PresentationFormat>On-screen Show (4:3)</PresentationFormat>
  <Paragraphs>138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Shaurya Rathore</cp:lastModifiedBy>
  <cp:revision>4</cp:revision>
  <dcterms:created xsi:type="dcterms:W3CDTF">2013-01-27T09:14:16Z</dcterms:created>
  <dcterms:modified xsi:type="dcterms:W3CDTF">2026-04-03T05:51:10Z</dcterms:modified>
  <cp:category/>
</cp:coreProperties>
</file>